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"/>
  </p:notesMasterIdLst>
  <p:sldIdLst>
    <p:sldId id="290" r:id="rId3"/>
    <p:sldId id="291" r:id="rId4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Rachaita0806/Interview_Agent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3187690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/>
                <a:gridCol w="2443374"/>
                <a:gridCol w="2443374"/>
                <a:gridCol w="2443374"/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RACHAITA BHATTACHARJEE</a:t>
                      </a:r>
                      <a:endParaRPr lang="en-US" sz="20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rachaitabhattacharjee@gmail.com</a:t>
                      </a:r>
                      <a:endParaRPr lang="en-US" sz="20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9348263080</a:t>
                      </a:r>
                      <a:endParaRPr lang="en-US" sz="20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02659" y="1870299"/>
            <a:ext cx="1028025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[ </a:t>
            </a:r>
            <a:r>
              <a:rPr lang="en-US" altLang="en-US" sz="2400" b="1">
                <a:highlight>
                  <a:srgbClr val="FFFF00"/>
                </a:highlight>
              </a:rPr>
              <a:t>Education / Career Development</a:t>
            </a:r>
            <a:r>
              <a:rPr lang="en-US" sz="2400" b="1">
                <a:highlight>
                  <a:srgbClr val="FFFF00"/>
                </a:highlight>
              </a:rPr>
              <a:t> 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6797" y="714525"/>
            <a:ext cx="95811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US" altLang="en-US" sz="2400" b="1">
                <a:highlight>
                  <a:srgbClr val="FFFF00"/>
                </a:highlight>
              </a:rPr>
              <a:t>Interview Trainer Agent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8420" y="4229100"/>
            <a:ext cx="114236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072" y="1234440"/>
            <a:ext cx="1060704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en-US" sz="2000" i="1" u="sng" dirty="0"/>
              <a:t>Problem Statement: </a:t>
            </a:r>
            <a:r>
              <a:rPr lang="en-US" altLang="en-US" sz="2000" dirty="0"/>
              <a:t>Interview Trainer Agent  </a:t>
            </a:r>
            <a:endParaRPr lang="en-US" altLang="en-US" sz="2000" dirty="0"/>
          </a:p>
          <a:p>
            <a:pPr fontAlgn="base"/>
            <a:endParaRPr lang="en-US" altLang="en-US" sz="2000" dirty="0"/>
          </a:p>
          <a:p>
            <a:pPr fontAlgn="base">
              <a:lnSpc>
                <a:spcPct val="80000"/>
              </a:lnSpc>
            </a:pPr>
            <a:r>
              <a:rPr lang="en-US" altLang="en-US" sz="2000" i="1" u="sng" dirty="0"/>
              <a:t>The Challenge:</a:t>
            </a:r>
            <a:r>
              <a:rPr lang="en-US" altLang="en-US" sz="2000" dirty="0"/>
              <a:t> An Interview Trainer Agent, powered by RAG (Retrieval-Augmented Generation), prepares users for job interviews by generating tailored question sets and preparation strategies based on their profile name, experience level, and job role. </a:t>
            </a:r>
            <a:endParaRPr lang="en-US" altLang="en-US" sz="2000" dirty="0"/>
          </a:p>
          <a:p>
            <a:pPr fontAlgn="base">
              <a:lnSpc>
                <a:spcPct val="80000"/>
              </a:lnSpc>
            </a:pPr>
            <a:endParaRPr lang="en-US" altLang="en-US" sz="2000" dirty="0"/>
          </a:p>
          <a:p>
            <a:pPr fontAlgn="base">
              <a:lnSpc>
                <a:spcPct val="80000"/>
              </a:lnSpc>
            </a:pPr>
            <a:r>
              <a:rPr lang="en-US" altLang="en-US" sz="2000" dirty="0"/>
              <a:t>It retrieves role-specific interview questions, industry expectations, behavioral scenarios, and HR guidelines from recruitment portals, professional networks, and company interview databases. </a:t>
            </a:r>
            <a:endParaRPr lang="en-US" altLang="en-US" sz="2000" dirty="0"/>
          </a:p>
          <a:p>
            <a:pPr fontAlgn="base">
              <a:lnSpc>
                <a:spcPct val="80000"/>
              </a:lnSpc>
            </a:pPr>
            <a:endParaRPr lang="en-US" altLang="en-US" sz="2000" dirty="0"/>
          </a:p>
          <a:p>
            <a:pPr fontAlgn="base">
              <a:lnSpc>
                <a:spcPct val="80000"/>
              </a:lnSpc>
            </a:pPr>
            <a:r>
              <a:rPr lang="en-US" altLang="en-US" sz="2000" dirty="0"/>
              <a:t>Users can input their resume or job title, and the agent provides targeted questions, model answers, and improvement tips. It supports both technical and soft skill assessment, ensuring a comprehensive interview prep experience. </a:t>
            </a:r>
            <a:endParaRPr lang="en-US" altLang="en-US" sz="2000" dirty="0"/>
          </a:p>
          <a:p>
            <a:pPr fontAlgn="base">
              <a:lnSpc>
                <a:spcPct val="80000"/>
              </a:lnSpc>
            </a:pPr>
            <a:endParaRPr lang="en-US" altLang="en-US" sz="2000" dirty="0"/>
          </a:p>
          <a:p>
            <a:pPr fontAlgn="base">
              <a:lnSpc>
                <a:spcPct val="80000"/>
              </a:lnSpc>
            </a:pPr>
            <a:r>
              <a:rPr lang="en-US" altLang="en-US" sz="2000" dirty="0"/>
              <a:t>This AI-driven assistant builds user confidence, sharpens responses, and increases success rates in competitive hiring environments. </a:t>
            </a:r>
            <a:endParaRPr lang="en-US" altLang="en-US" sz="2000" dirty="0"/>
          </a:p>
          <a:p>
            <a:pPr fontAlgn="base"/>
            <a:endParaRPr lang="en-US" altLang="en-US" sz="2000" dirty="0"/>
          </a:p>
          <a:p>
            <a:pPr fontAlgn="base"/>
            <a:r>
              <a:rPr lang="en-US" altLang="en-US" sz="2000" i="1" u="sng" dirty="0"/>
              <a:t>Technology:</a:t>
            </a:r>
            <a:r>
              <a:rPr lang="en-US" altLang="en-US" sz="2000" dirty="0"/>
              <a:t> Use of IBM Cloud Lite services / IBM Granite is mandatory. </a:t>
            </a:r>
            <a:endParaRPr lang="en-US" altLang="en-US" sz="2000" dirty="0"/>
          </a:p>
          <a:p>
            <a:endParaRPr lang="en-US" alt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945" y="986790"/>
            <a:ext cx="10607040" cy="5871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base">
              <a:lnSpc>
                <a:spcPct val="110000"/>
              </a:lnSpc>
            </a:pPr>
            <a:r>
              <a:rPr lang="en-US" altLang="en-US" sz="2000" b="1"/>
              <a:t>Proposed Solution: AI-Powered Interview Trainer</a:t>
            </a:r>
            <a:endParaRPr lang="en-US" altLang="en-US" sz="2000" b="1"/>
          </a:p>
          <a:p>
            <a:pPr>
              <a:lnSpc>
                <a:spcPct val="110000"/>
              </a:lnSpc>
            </a:pPr>
            <a:endParaRPr lang="en-US" altLang="en-US" sz="2000" b="1"/>
          </a:p>
          <a:p>
            <a:pPr>
              <a:lnSpc>
                <a:spcPct val="110000"/>
              </a:lnSpc>
            </a:pPr>
            <a:r>
              <a:rPr lang="en-US" altLang="en-US" sz="2000"/>
              <a:t>The proposed solution is an AI-powered Interview Trainer Agent built using IBM Granite 4 H Small, IBM Watson Machine Learning, IBM Bob, Node.js and Express.js.</a:t>
            </a:r>
            <a:endParaRPr lang="en-US" altLang="en-US" sz="2000"/>
          </a:p>
          <a:p>
            <a:pPr>
              <a:lnSpc>
                <a:spcPct val="110000"/>
              </a:lnSpc>
            </a:pPr>
            <a:r>
              <a:rPr lang="en-US" altLang="en-US" sz="2000"/>
              <a:t>The system conducts a structured mock interview by asking one question at a time and evaluating each candidate response using IBM Granite.</a:t>
            </a:r>
            <a:endParaRPr lang="en-US" altLang="en-US" sz="2000"/>
          </a:p>
          <a:p>
            <a:pPr>
              <a:lnSpc>
                <a:spcPct val="110000"/>
              </a:lnSpc>
            </a:pPr>
            <a:endParaRPr lang="en-US" altLang="en-US" sz="2000"/>
          </a:p>
          <a:p>
            <a:pPr>
              <a:lnSpc>
                <a:spcPct val="110000"/>
              </a:lnSpc>
            </a:pPr>
            <a:r>
              <a:rPr lang="en-US" altLang="en-US" sz="2000" b="1" i="1" u="sng"/>
              <a:t>Core workflow:</a:t>
            </a:r>
            <a:endParaRPr lang="en-US" altLang="en-US" sz="2000" b="1" i="1" u="sng"/>
          </a:p>
          <a:p>
            <a:pPr>
              <a:lnSpc>
                <a:spcPct val="110000"/>
              </a:lnSpc>
            </a:pPr>
            <a:r>
              <a:rPr lang="en-US" altLang="en-US" sz="2000"/>
              <a:t>1. Interview Setup Agent/Module: </a:t>
            </a:r>
            <a:r>
              <a:rPr lang="en-US" altLang="en-US" sz="2000" i="1"/>
              <a:t>Collects job role, experience level and interview type.</a:t>
            </a:r>
            <a:endParaRPr lang="en-US" altLang="en-US" sz="2000" i="1"/>
          </a:p>
          <a:p>
            <a:pPr>
              <a:lnSpc>
                <a:spcPct val="110000"/>
              </a:lnSpc>
            </a:pPr>
            <a:r>
              <a:rPr lang="en-US" altLang="en-US" sz="2000"/>
              <a:t>2. Interview Question Generator: </a:t>
            </a:r>
            <a:r>
              <a:rPr lang="en-US" altLang="en-US" sz="2000" i="1"/>
              <a:t>Generates relevant interview questions.</a:t>
            </a:r>
            <a:endParaRPr lang="en-US" altLang="en-US" sz="2000"/>
          </a:p>
          <a:p>
            <a:pPr>
              <a:lnSpc>
                <a:spcPct val="110000"/>
              </a:lnSpc>
            </a:pPr>
            <a:r>
              <a:rPr lang="en-US" altLang="en-US" sz="2000"/>
              <a:t>3. Answer Evaluation: </a:t>
            </a:r>
            <a:r>
              <a:rPr lang="en-US" altLang="en-US" sz="2000" i="1"/>
              <a:t>Evaluates the candidate's response and assigns a score out of 10.</a:t>
            </a:r>
            <a:endParaRPr lang="en-US" altLang="en-US" sz="2000" i="1"/>
          </a:p>
          <a:p>
            <a:pPr>
              <a:lnSpc>
                <a:spcPct val="110000"/>
              </a:lnSpc>
            </a:pPr>
            <a:r>
              <a:rPr lang="en-US" altLang="en-US" sz="2000"/>
              <a:t>4. Feedback Generator: </a:t>
            </a:r>
            <a:r>
              <a:rPr lang="en-US" altLang="en-US" sz="2000" i="1"/>
              <a:t>Provides strengths, improvement areas and a model answer.</a:t>
            </a:r>
            <a:endParaRPr lang="en-US" altLang="en-US" sz="2000" i="1"/>
          </a:p>
          <a:p>
            <a:pPr>
              <a:lnSpc>
                <a:spcPct val="110000"/>
              </a:lnSpc>
            </a:pPr>
            <a:r>
              <a:rPr lang="en-US" altLang="en-US" sz="2000"/>
              <a:t>5. Interview Progress Manager: </a:t>
            </a:r>
            <a:r>
              <a:rPr lang="en-US" altLang="en-US" sz="2000" i="1"/>
              <a:t>Tracks questions and ensures the interview stays within the defined maximum number of questions.</a:t>
            </a:r>
            <a:endParaRPr lang="en-US" altLang="en-US" sz="2000" i="1"/>
          </a:p>
          <a:p>
            <a:pPr>
              <a:lnSpc>
                <a:spcPct val="90000"/>
              </a:lnSpc>
            </a:pPr>
            <a:endParaRPr lang="en-US" altLang="en-US" sz="2000" i="1"/>
          </a:p>
        </p:txBody>
      </p:sp>
      <p:sp>
        <p:nvSpPr>
          <p:cNvPr id="3" name="TextBox 2"/>
          <p:cNvSpPr txBox="1"/>
          <p:nvPr/>
        </p:nvSpPr>
        <p:spPr>
          <a:xfrm>
            <a:off x="576072" y="52501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515600" cy="541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IBM Bob </a:t>
            </a:r>
            <a:r>
              <a:rPr lang="en-US" altLang="en-US" sz="2000"/>
              <a:t>– Used for agent-oriented development and workflow exploration.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IBM Granite 4 H Small </a:t>
            </a:r>
            <a:r>
              <a:rPr lang="en-US" altLang="en-US" sz="2000"/>
              <a:t>– Used for interview question generation, reasoning and answer evaluation.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IBM Watson Machine Learning / watsonx.ai </a:t>
            </a:r>
            <a:r>
              <a:rPr lang="en-US" altLang="en-US" sz="2000"/>
              <a:t>– Used for accessing and deploying the Granite model.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IBM Cloud</a:t>
            </a:r>
            <a:r>
              <a:rPr lang="en-US" altLang="en-US" sz="2000"/>
              <a:t> – Provides cloud infrastructure and AI services.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Node.js</a:t>
            </a:r>
            <a:r>
              <a:rPr lang="en-US" altLang="en-US" sz="2000"/>
              <a:t> – Backend runtime.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Express.js </a:t>
            </a:r>
            <a:r>
              <a:rPr lang="en-US" altLang="en-US" sz="2000"/>
              <a:t>– Backend API server.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HTML, CSS, JavaScript</a:t>
            </a:r>
            <a:r>
              <a:rPr lang="en-US" altLang="en-US" sz="2000"/>
              <a:t> – Frontend interface.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GitHub</a:t>
            </a:r>
            <a:r>
              <a:rPr lang="en-US" altLang="en-US" sz="2000"/>
              <a:t> – Source code management.</a:t>
            </a:r>
            <a:endParaRPr lang="en-US" altLang="en-US" sz="200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Render </a:t>
            </a:r>
            <a:r>
              <a:rPr lang="en-US" altLang="en-US" sz="2000"/>
              <a:t>– Cloud deployment.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endParaRPr lang="en-US" sz="2000"/>
          </a:p>
          <a:p>
            <a:endParaRPr lang="en-I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Required Files created using IBM bob -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4822" y="863187"/>
            <a:ext cx="882396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/>
              <a:t>server.js</a:t>
            </a:r>
            <a:endParaRPr lang="en-US" altLang="en-US" sz="200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/>
              <a:t>public/index.html</a:t>
            </a:r>
            <a:endParaRPr lang="en-US" altLang="en-US" sz="200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/>
              <a:t>package.json</a:t>
            </a:r>
            <a:endParaRPr lang="en-US" altLang="en-US" sz="200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/>
              <a:t>package-lock.json</a:t>
            </a:r>
            <a:endParaRPr lang="en-US" altLang="en-US" sz="200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/>
              <a:t>.env</a:t>
            </a:r>
            <a:endParaRPr lang="en-US" altLang="en-US" sz="200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/>
              <a:t>.gitignore</a:t>
            </a:r>
            <a:endParaRPr lang="en-US" altLang="en-US" sz="2000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US" altLang="en-US" sz="2000"/>
              <a:t>README.md</a:t>
            </a:r>
            <a:endParaRPr lang="en-US" altLang="en-US" sz="2000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pic>
        <p:nvPicPr>
          <p:cNvPr id="3" name="Picture 2" descr="Screenshot 2026-09-05 1221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7160" y="2562225"/>
            <a:ext cx="7529195" cy="4006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IBM Bob Screenshots:</a:t>
            </a:r>
            <a:endParaRPr sz="2400" b="1">
              <a:sym typeface="Times New Roman" panose="02020603050405020304"/>
            </a:endParaRPr>
          </a:p>
        </p:txBody>
      </p:sp>
      <p:pic>
        <p:nvPicPr>
          <p:cNvPr id="3" name="Picture 2" descr="Screenshot 2026-09-05 1404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854710"/>
            <a:ext cx="10535285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30" y="590550"/>
            <a:ext cx="10760075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 descr="Screenshot 2026-09-05 1217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25" y="1045210"/>
            <a:ext cx="9874250" cy="49841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/>
          <p:cNvSpPr txBox="1"/>
          <p:nvPr/>
        </p:nvSpPr>
        <p:spPr>
          <a:xfrm>
            <a:off x="621792" y="1167493"/>
            <a:ext cx="740664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/>
              <a:t>Role of Agentic AI in Interview Trainer</a:t>
            </a:r>
            <a:endParaRPr lang="en-US" altLang="en-US" sz="2000"/>
          </a:p>
          <a:p>
            <a:r>
              <a:rPr lang="en-US" altLang="en-US" sz="2000"/>
              <a:t>Agentic AI enables the Interview Trainer to function as an intelligent and context-aware interview assistant rather than a simple chatbot.</a:t>
            </a:r>
            <a:endParaRPr lang="en-US" altLang="en-US" sz="2000"/>
          </a:p>
          <a:p>
            <a:r>
              <a:rPr lang="en-US" altLang="en-US" sz="2000" i="1"/>
              <a:t>Then:</a:t>
            </a:r>
            <a:endParaRPr lang="en-US" altLang="en-US" sz="2000" i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Generates interview questions based on the selected role and interview type.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Maintains context throughout the interview.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Evaluates candidate responses.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Provides personalized feedback.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Generates model answers.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Dynamically continues the interview based on previous responses.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Tracks interview progress and question count.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Overall, Agentic AI makes the interview process interactive, adaptive, personalized and goal-driven.</a:t>
            </a: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Token Usage 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392" y="1042133"/>
            <a:ext cx="4371171" cy="3067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/>
              <a:t>3042 token are used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Before Prompt</a:t>
            </a:r>
            <a:endParaRPr lang="en-US" sz="2000" u="sng"/>
          </a:p>
        </p:txBody>
      </p:sp>
      <p:sp>
        <p:nvSpPr>
          <p:cNvPr id="15" name="TextBox 14"/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u="sng"/>
              <a:t>After the Prompt</a:t>
            </a:r>
            <a:endParaRPr lang="en-US" sz="2000" u="sng"/>
          </a:p>
        </p:txBody>
      </p:sp>
      <p:pic>
        <p:nvPicPr>
          <p:cNvPr id="2" name="Picture 1" descr="Screenshot 2026-09-04 2303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45" y="2345690"/>
            <a:ext cx="5407660" cy="3467735"/>
          </a:xfrm>
          <a:prstGeom prst="rect">
            <a:avLst/>
          </a:prstGeom>
        </p:spPr>
      </p:pic>
      <p:pic>
        <p:nvPicPr>
          <p:cNvPr id="3" name="Picture 2" descr="Screenshot 2026-09-05 131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85" y="2345690"/>
            <a:ext cx="5838190" cy="34677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7" name="Picture 6" descr="Screenshot 2026-09-05 1418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65" y="1069975"/>
            <a:ext cx="10244455" cy="4882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6" name="Picture 5" descr="Screenshot 2026-09-05 1418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10" y="1169670"/>
            <a:ext cx="9823450" cy="5024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000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 panose="02020603050405020304"/>
              </a:rPr>
              <a:t> Project Output Screenshot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7510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324610"/>
            <a:ext cx="10110470" cy="4729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1301984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altLang="en-US" sz="2000"/>
          </a:p>
          <a:p>
            <a:pPr marL="457200" indent="-457200">
              <a:buAutoNum type="arabicPeriod"/>
            </a:pPr>
            <a:r>
              <a:rPr lang="en-US" altLang="en-US" sz="2000" i="1"/>
              <a:t>AI-Powered Interview Simulation: </a:t>
            </a:r>
            <a:r>
              <a:rPr lang="en-US" altLang="en-US" sz="2000"/>
              <a:t>Provides a realistic conversational interview experience.</a:t>
            </a:r>
            <a:endParaRPr lang="en-US" altLang="en-US" sz="2000"/>
          </a:p>
          <a:p>
            <a:pPr marL="457200" indent="-457200">
              <a:buAutoNum type="arabicPeriod"/>
            </a:pPr>
            <a:endParaRPr lang="en-US" altLang="en-US" sz="2000"/>
          </a:p>
          <a:p>
            <a:pPr marL="457200" indent="-457200">
              <a:buAutoNum type="arabicPeriod"/>
            </a:pPr>
            <a:r>
              <a:rPr lang="en-US" altLang="en-US" sz="2000" i="1"/>
              <a:t>Personalized Interviews:</a:t>
            </a:r>
            <a:r>
              <a:rPr lang="en-US" altLang="en-US" sz="2000"/>
              <a:t> Questions are adapted based on job role, experience level and interview type.</a:t>
            </a:r>
            <a:endParaRPr lang="en-US" altLang="en-US" sz="2000"/>
          </a:p>
          <a:p>
            <a:pPr marL="457200" indent="-457200">
              <a:buAutoNum type="arabicPeriod"/>
            </a:pPr>
            <a:endParaRPr lang="en-US" altLang="en-US" sz="2000" i="1"/>
          </a:p>
          <a:p>
            <a:pPr marL="457200" indent="-457200">
              <a:buAutoNum type="arabicPeriod"/>
            </a:pPr>
            <a:r>
              <a:rPr lang="en-US" altLang="en-US" sz="2000" i="1"/>
              <a:t>Structured AI Evaluation: </a:t>
            </a:r>
            <a:r>
              <a:rPr lang="en-US" altLang="en-US" sz="2000"/>
              <a:t>Every answer receives a score, strengths, improvement suggestions and a model answer.</a:t>
            </a:r>
            <a:endParaRPr lang="en-US" altLang="en-US" sz="2000"/>
          </a:p>
          <a:p>
            <a:pPr marL="457200" indent="-457200">
              <a:buAutoNum type="arabicPeriod"/>
            </a:pPr>
            <a:endParaRPr lang="en-US" altLang="en-US" sz="2000" i="1"/>
          </a:p>
          <a:p>
            <a:pPr marL="457200" indent="-457200">
              <a:buAutoNum type="arabicPeriod"/>
            </a:pPr>
            <a:r>
              <a:rPr lang="en-US" altLang="en-US" sz="2000" i="1"/>
              <a:t>Adaptive Interview Flow: </a:t>
            </a:r>
            <a:r>
              <a:rPr lang="en-US" altLang="en-US" sz="2000"/>
              <a:t>The next question is generated based on the ongoing interview context.</a:t>
            </a:r>
            <a:endParaRPr lang="en-US" altLang="en-US" sz="2000"/>
          </a:p>
          <a:p>
            <a:pPr marL="457200" indent="-457200">
              <a:buAutoNum type="arabicPeriod"/>
            </a:pPr>
            <a:endParaRPr lang="en-US" altLang="en-US" sz="2000" i="1"/>
          </a:p>
          <a:p>
            <a:pPr marL="457200" indent="-457200">
              <a:buAutoNum type="arabicPeriod"/>
            </a:pPr>
            <a:r>
              <a:rPr lang="en-US" altLang="en-US" sz="2000" i="1"/>
              <a:t>Controlled Interview Length: </a:t>
            </a:r>
            <a:r>
              <a:rPr lang="en-US" altLang="en-US" sz="2000"/>
              <a:t>The system maintains a maximum number of interview questions.</a:t>
            </a:r>
            <a:endParaRPr lang="en-US" altLang="en-US" sz="2000"/>
          </a:p>
          <a:p>
            <a:pPr marL="457200" indent="-457200">
              <a:buAutoNum type="arabicPeriod"/>
            </a:pPr>
            <a:endParaRPr lang="en-US" altLang="en-US" sz="2000"/>
          </a:p>
          <a:p>
            <a:pPr marL="457200" indent="-457200">
              <a:buAutoNum type="arabicPeriod"/>
            </a:pPr>
            <a:r>
              <a:rPr lang="en-US" altLang="en-US" sz="2000" i="1"/>
              <a:t>End-to-End Cloud Deployment:</a:t>
            </a:r>
            <a:r>
              <a:rPr lang="en-US" altLang="en-US" sz="2000"/>
              <a:t> The complete application is deployed as a publicly accessible web application.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3200" b="1">
                <a:sym typeface="Times New Roman" panose="02020603050405020304"/>
              </a:rPr>
              <a:t>Git Hub Link</a:t>
            </a:r>
            <a:endParaRPr lang="en-US" sz="32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565" y="2515870"/>
            <a:ext cx="9214485" cy="161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GitHub Repository: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  <a:hlinkClick r:id="rId1" action="ppaction://hlinkfile"/>
              </a:rPr>
              <a:t>https://github.com/Rachaita0806/Interview_Agent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280150" y="18669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400" b="1">
                <a:sym typeface="Times New Roman" panose="02020603050405020304"/>
              </a:rPr>
              <a:t>Future Scope </a:t>
            </a:r>
            <a:endParaRPr sz="2400" b="1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AutoNum type="arabicPeriod"/>
            </a:pPr>
            <a:r>
              <a:rPr lang="en-US" altLang="en-US" sz="2000" b="0" i="1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Resume-Based Interviews: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Generate questions based on the candidate's uploaded resume.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AutoNum type="arabicPeriod"/>
            </a:pPr>
            <a:r>
              <a:rPr lang="en-US" altLang="en-US" sz="2000" b="0" i="1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Voice-Based Interviews: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Allow candidates to answer questions using their voice.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AutoNum type="arabicPeriod"/>
            </a:pPr>
            <a:r>
              <a:rPr lang="en-US" altLang="en-US" sz="2000" b="0" i="1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Multilingual Support: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Support interviews in multiple languages.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AutoNum type="arabicPeriod"/>
            </a:pPr>
            <a:r>
              <a:rPr lang="en-US" altLang="en-US" sz="2000" b="0" i="1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Advanced Interview Analytics: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Track performance, strengths and weaknesses over multiple sessions.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AutoNum type="arabicPeriod"/>
            </a:pPr>
            <a:r>
              <a:rPr lang="en-US" altLang="en-US" sz="2000" b="0" i="1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Coding Interview Agent: 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Add coding questions and automated code evaluation.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  <a:p>
            <a:pPr marL="457200" marR="0" lvl="0" indent="-4572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Arial" panose="020B0604020202020204" pitchFamily="34" charset="0"/>
              <a:buAutoNum type="arabicPeriod"/>
            </a:pPr>
            <a:r>
              <a:rPr lang="en-US" altLang="en-US" sz="2000" b="0" i="1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Specialized Interview Agents:</a:t>
            </a:r>
            <a:r>
              <a:rPr lang="en-US" altLang="en-US" sz="20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  <a:sym typeface="Times New Roman" panose="02020603050405020304"/>
              </a:rPr>
              <a:t> Create separate agents for HR, technical, behavioral and domain-specific interviews.</a:t>
            </a:r>
            <a:endParaRPr lang="en-US" altLang="en-US" sz="2000" b="0" i="0" u="none" strike="noStrike" cap="none">
              <a:solidFill>
                <a:srgbClr val="000000"/>
              </a:solidFill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  <a:sym typeface="Times New Roman" panose="02020603050405020304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/>
              <a:t>Certificates Earned:</a:t>
            </a:r>
            <a:endParaRPr lang="en-US" sz="2400" b="1"/>
          </a:p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840" y="961390"/>
            <a:ext cx="76396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 panose="020B0604020202020204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0" y="1158875"/>
            <a:ext cx="7086600" cy="4540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4818</Words>
  <Application>WPS Presentation</Application>
  <PresentationFormat>Widescreen</PresentationFormat>
  <Paragraphs>188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IBM University Engagement Project Submission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KIIT</cp:lastModifiedBy>
  <cp:revision>12</cp:revision>
  <dcterms:created xsi:type="dcterms:W3CDTF">2025-07-08T05:06:00Z</dcterms:created>
  <dcterms:modified xsi:type="dcterms:W3CDTF">2026-09-07T13:51:58Z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5C524B3CF50543FFA1B90C667C76B01D_12</vt:lpwstr>
  </property>
</Properties>
</file>